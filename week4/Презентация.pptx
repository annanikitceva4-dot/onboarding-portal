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589" y="-1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Овал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Прямоугольник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Содержимое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ая соединительная линия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Содержимое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6" name="Содержимое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5" name="Овал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Овал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23" name="Заголовок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Прямоугольник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Прямоугольник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Прямоугольник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Содержимое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0" name="Овал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Овал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21" name="Прямоугольник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ая соединительная линия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Прямоугольник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Прямоугольник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Овал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Овал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22" name="Прямоугольник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Прямоугольник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Прямоугольник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Прямоугольник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Прямая соединительная линия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Овал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Прямоугольник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Прямоугольник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Прямоугольник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Прямоугольник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9175C1FB-213D-48B2-8016-FB5D6B1124D4}" type="datetimeFigureOut">
              <a:rPr lang="ru-RU" smtClean="0"/>
              <a:t>17.07.2026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8" name="Прямоугольник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Овал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Овал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499FFB18-6C34-4690-A964-F3E96C80D8A1}" type="slidenum">
              <a:rPr lang="ru-RU" smtClean="0"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75656" y="2996952"/>
            <a:ext cx="6400800" cy="1752600"/>
          </a:xfrm>
        </p:spPr>
        <p:txBody>
          <a:bodyPr>
            <a:normAutofit/>
          </a:bodyPr>
          <a:lstStyle/>
          <a:p>
            <a:r>
              <a:rPr lang="ru-RU" dirty="0"/>
              <a:t>Цель проекта – автоматизировать процесс </a:t>
            </a:r>
            <a:r>
              <a:rPr lang="ru-RU" dirty="0" err="1"/>
              <a:t>онбординга</a:t>
            </a:r>
            <a:r>
              <a:rPr lang="ru-RU" dirty="0"/>
              <a:t>, сократив рутинные задачи HR, руководителей и наставников.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Проектирование </a:t>
            </a:r>
            <a:r>
              <a:rPr lang="ru-RU" dirty="0" err="1"/>
              <a:t>веб-приложения</a:t>
            </a:r>
            <a:r>
              <a:rPr lang="ru-RU" dirty="0"/>
              <a:t> “Портал адаптации и </a:t>
            </a:r>
            <a:r>
              <a:rPr lang="ru-RU" dirty="0" err="1"/>
              <a:t>онбординга</a:t>
            </a:r>
            <a:r>
              <a:rPr lang="ru-RU" dirty="0"/>
              <a:t> новых сотрудников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Акторы</a:t>
            </a:r>
            <a:r>
              <a:rPr lang="ru-RU" dirty="0" smtClean="0"/>
              <a:t> и их задачи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301625" y="1527175"/>
          <a:ext cx="8504238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4198"/>
                <a:gridCol w="64100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err="1" smtClean="0"/>
                        <a:t>Актор</a:t>
                      </a:r>
                      <a:endParaRPr lang="ru-RU" dirty="0"/>
                    </a:p>
                  </a:txBody>
                  <a:tcPr marL="94491" marR="944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Основные задачи</a:t>
                      </a:r>
                      <a:endParaRPr lang="ru-RU" dirty="0"/>
                    </a:p>
                  </a:txBody>
                  <a:tcPr marL="94491" marR="94491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Новичок</a:t>
                      </a:r>
                      <a:endParaRPr lang="ru-RU" dirty="0"/>
                    </a:p>
                  </a:txBody>
                  <a:tcPr marL="94491" marR="944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Просматривать список задач на день.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Отмечать задачи выполненными.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Запрашивать оборудование через форму.</a:t>
                      </a:r>
                      <a:endParaRPr lang="ru-RU" dirty="0"/>
                    </a:p>
                  </a:txBody>
                  <a:tcPr marL="94491" marR="94491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Наставник</a:t>
                      </a:r>
                      <a:endParaRPr lang="ru-RU" dirty="0"/>
                    </a:p>
                  </a:txBody>
                  <a:tcPr marL="94491" marR="944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Видеть всех своих подопечных и их прогресс.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Оставлять комментарии к задачам новичков.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Получать уведомления о просрочках.</a:t>
                      </a:r>
                      <a:endParaRPr lang="ru-RU" dirty="0"/>
                    </a:p>
                  </a:txBody>
                  <a:tcPr marL="94491" marR="94491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Руководитель</a:t>
                      </a:r>
                      <a:endParaRPr lang="ru-RU" dirty="0"/>
                    </a:p>
                  </a:txBody>
                  <a:tcPr marL="94491" marR="944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Просматривать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дашборд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по новым сотрудникам.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Утверждать завершение ключевых этапов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онбординга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dirty="0"/>
                    </a:p>
                  </a:txBody>
                  <a:tcPr marL="94491" marR="94491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HR-</a:t>
                      </a:r>
                      <a:r>
                        <a:rPr lang="ru-RU" dirty="0" smtClean="0"/>
                        <a:t>менеджер</a:t>
                      </a:r>
                      <a:endParaRPr lang="ru-RU" dirty="0"/>
                    </a:p>
                  </a:txBody>
                  <a:tcPr marL="94491" marR="944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Создавать шаблоны </a:t>
                      </a:r>
                      <a:r>
                        <a:rPr lang="ru-RU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чек-листов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для разных должностей.</a:t>
                      </a:r>
                      <a:r>
                        <a:rPr lang="ru-RU" dirty="0" smtClean="0"/>
                        <a:t/>
                      </a:r>
                      <a:br>
                        <a:rPr lang="ru-RU" dirty="0" smtClean="0"/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– Просматривать сводную статистику по новичкам.</a:t>
                      </a:r>
                      <a:endParaRPr lang="ru-RU" dirty="0"/>
                    </a:p>
                  </a:txBody>
                  <a:tcPr marL="94491" marR="94491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Функциональные требования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556792"/>
            <a:ext cx="8712968" cy="4785395"/>
          </a:xfrm>
        </p:spPr>
        <p:txBody>
          <a:bodyPr>
            <a:normAutofit fontScale="25000" lnSpcReduction="20000"/>
          </a:bodyPr>
          <a:lstStyle/>
          <a:p>
            <a:r>
              <a:rPr lang="ru-RU" sz="6200" dirty="0"/>
              <a:t>Новичок должен иметь возможность просматривать список задач, используя систему.</a:t>
            </a:r>
          </a:p>
          <a:p>
            <a:r>
              <a:rPr lang="ru-RU" sz="6200" dirty="0"/>
              <a:t>Система должна позволять новичку отмечать задачу как выполненную.</a:t>
            </a:r>
          </a:p>
          <a:p>
            <a:r>
              <a:rPr lang="ru-RU" sz="6200" dirty="0"/>
              <a:t>В системе должен отображаться прогресс выполнения </a:t>
            </a:r>
            <a:r>
              <a:rPr lang="ru-RU" sz="6200" dirty="0" err="1"/>
              <a:t>чек-листа</a:t>
            </a:r>
            <a:r>
              <a:rPr lang="ru-RU" sz="6200" dirty="0"/>
              <a:t>.</a:t>
            </a:r>
          </a:p>
          <a:p>
            <a:r>
              <a:rPr lang="ru-RU" sz="6200" dirty="0"/>
              <a:t>Новичок может запрашивать оборудование через форму в системе.</a:t>
            </a:r>
          </a:p>
          <a:p>
            <a:r>
              <a:rPr lang="ru-RU" sz="6200" dirty="0"/>
              <a:t>Через систему наставник может просматривать список своих подопечных.</a:t>
            </a:r>
          </a:p>
          <a:p>
            <a:r>
              <a:rPr lang="ru-RU" sz="6200" dirty="0"/>
              <a:t>Наставник через систему может оставлять комментарии к задачам новичка.</a:t>
            </a:r>
          </a:p>
          <a:p>
            <a:r>
              <a:rPr lang="ru-RU" sz="6200" dirty="0"/>
              <a:t>Через систему руководитель может видеть прогресс новичка по сделанным/просроченным задачам.</a:t>
            </a:r>
          </a:p>
          <a:p>
            <a:r>
              <a:rPr lang="ru-RU" sz="6200" dirty="0"/>
              <a:t>Система должна позволять руководителю подтверждать выполнение ключевых этапов.</a:t>
            </a:r>
          </a:p>
          <a:p>
            <a:r>
              <a:rPr lang="ru-RU" sz="6200" dirty="0"/>
              <a:t>HR-менеджер через систему может создавать готовые </a:t>
            </a:r>
            <a:r>
              <a:rPr lang="ru-RU" sz="6200" dirty="0" err="1"/>
              <a:t>чек-листы</a:t>
            </a:r>
            <a:r>
              <a:rPr lang="ru-RU" sz="6200" dirty="0"/>
              <a:t> (используя шаблоны).</a:t>
            </a:r>
          </a:p>
          <a:p>
            <a:r>
              <a:rPr lang="ru-RU" sz="6200" dirty="0"/>
              <a:t>HR-менеджер через систему может смотреть сводную статистику (сколько новичков в </a:t>
            </a:r>
            <a:r>
              <a:rPr lang="ru-RU" sz="6200" dirty="0" err="1"/>
              <a:t>онбрдинге</a:t>
            </a:r>
            <a:r>
              <a:rPr lang="ru-RU" sz="6200" dirty="0"/>
              <a:t>, средняя скорость, заявки на оборудование)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324544" y="0"/>
            <a:ext cx="4376664" cy="11430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ER</a:t>
            </a:r>
            <a:r>
              <a:rPr lang="ru-RU" sz="3200" dirty="0" smtClean="0"/>
              <a:t>-диаграмма</a:t>
            </a:r>
            <a:endParaRPr lang="ru-RU" sz="3200" dirty="0"/>
          </a:p>
        </p:txBody>
      </p:sp>
      <p:pic>
        <p:nvPicPr>
          <p:cNvPr id="4" name="Содержимое 3" descr="ER-diagram.drawio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3419872" y="-1"/>
            <a:ext cx="5724128" cy="6814853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Основные </a:t>
            </a:r>
            <a:r>
              <a:rPr lang="en-US" dirty="0" smtClean="0"/>
              <a:t>API</a:t>
            </a:r>
            <a:r>
              <a:rPr lang="ru-RU" dirty="0" smtClean="0"/>
              <a:t>-методы</a:t>
            </a:r>
            <a:endParaRPr lang="ru-RU" dirty="0"/>
          </a:p>
        </p:txBody>
      </p:sp>
      <p:graphicFrame>
        <p:nvGraphicFramePr>
          <p:cNvPr id="4" name="Содержимое 3"/>
          <p:cNvGraphicFramePr>
            <a:graphicFrameLocks noGrp="1"/>
          </p:cNvGraphicFramePr>
          <p:nvPr>
            <p:ph sz="quarter" idx="1"/>
          </p:nvPr>
        </p:nvGraphicFramePr>
        <p:xfrm>
          <a:off x="457200" y="1644000"/>
          <a:ext cx="8229600" cy="4272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448"/>
                <a:gridCol w="2880320"/>
                <a:gridCol w="4402832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Метод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URL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Назначение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/v1/tasks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Получить список текущих задач для новичка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/v1/tasks/{id}/complete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Отметить задачу как выполненную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/v1/equipment-requests</a:t>
                      </a:r>
                      <a:endParaRPr lang="ru-RU" dirty="0" smtClean="0"/>
                    </a:p>
                  </a:txBody>
                  <a:tcPr marL="121920" marR="12192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Создать заявку на оборудование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/v1/mentor/mentees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Получить список подопечных для наставника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POST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onboarding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/approve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Утвердить завершение этапа руководителем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/v1/hr/statistics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Получить сводную статистику для HR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76056" y="188640"/>
            <a:ext cx="3600400" cy="1143000"/>
          </a:xfrm>
        </p:spPr>
        <p:txBody>
          <a:bodyPr/>
          <a:lstStyle/>
          <a:p>
            <a:r>
              <a:rPr lang="ru-RU" b="1" dirty="0" smtClean="0"/>
              <a:t>Эскизы</a:t>
            </a:r>
            <a:endParaRPr lang="ru-RU" b="1" dirty="0"/>
          </a:p>
        </p:txBody>
      </p:sp>
      <p:pic>
        <p:nvPicPr>
          <p:cNvPr id="4" name="Содержимое 3" descr="equipment.png"/>
          <p:cNvPicPr>
            <a:picLocks noGrp="1" noChangeAspect="1"/>
          </p:cNvPicPr>
          <p:nvPr>
            <p:ph sz="quarter" idx="1"/>
          </p:nvPr>
        </p:nvPicPr>
        <p:blipFill>
          <a:blip r:embed="rId2" cstate="print"/>
          <a:stretch>
            <a:fillRect/>
          </a:stretch>
        </p:blipFill>
        <p:spPr>
          <a:xfrm>
            <a:off x="4927317" y="1844824"/>
            <a:ext cx="4216683" cy="2998530"/>
          </a:xfrm>
        </p:spPr>
      </p:pic>
      <p:pic>
        <p:nvPicPr>
          <p:cNvPr id="6" name="Рисунок 5" descr="check-list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4151288"/>
            <a:ext cx="4032448" cy="2706712"/>
          </a:xfrm>
          <a:prstGeom prst="rect">
            <a:avLst/>
          </a:prstGeom>
        </p:spPr>
      </p:pic>
      <p:pic>
        <p:nvPicPr>
          <p:cNvPr id="7" name="Рисунок 6" descr="dashboard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4572000" cy="325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Итоги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Собраны и </a:t>
            </a:r>
            <a:r>
              <a:rPr lang="ru-RU" dirty="0" err="1"/>
              <a:t>задокументированы</a:t>
            </a:r>
            <a:r>
              <a:rPr lang="ru-RU" dirty="0"/>
              <a:t> </a:t>
            </a:r>
            <a:r>
              <a:rPr lang="ru-RU" b="1" dirty="0"/>
              <a:t>функциональные и нефункциональные требования</a:t>
            </a:r>
            <a:r>
              <a:rPr lang="ru-RU" dirty="0"/>
              <a:t> к системе.</a:t>
            </a:r>
          </a:p>
          <a:p>
            <a:r>
              <a:rPr lang="ru-RU" dirty="0"/>
              <a:t>Определены </a:t>
            </a:r>
            <a:r>
              <a:rPr lang="ru-RU" b="1" dirty="0"/>
              <a:t>роли пользователей</a:t>
            </a:r>
            <a:r>
              <a:rPr lang="ru-RU" dirty="0"/>
              <a:t> и их сценарии работы (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Stories</a:t>
            </a:r>
            <a:r>
              <a:rPr lang="ru-RU" dirty="0"/>
              <a:t>, </a:t>
            </a:r>
            <a:r>
              <a:rPr lang="ru-RU" dirty="0" err="1"/>
              <a:t>Use</a:t>
            </a:r>
            <a:r>
              <a:rPr lang="ru-RU" dirty="0"/>
              <a:t> </a:t>
            </a:r>
            <a:r>
              <a:rPr lang="ru-RU" dirty="0" err="1"/>
              <a:t>Cases</a:t>
            </a:r>
            <a:r>
              <a:rPr lang="ru-RU" dirty="0"/>
              <a:t>, BPMN-диаграмма).</a:t>
            </a:r>
          </a:p>
          <a:p>
            <a:r>
              <a:rPr lang="ru-RU" dirty="0"/>
              <a:t>Разработаны </a:t>
            </a:r>
            <a:r>
              <a:rPr lang="ru-RU" b="1" dirty="0"/>
              <a:t>эскизы интерфейса</a:t>
            </a:r>
            <a:r>
              <a:rPr lang="ru-RU" dirty="0"/>
              <a:t> (</a:t>
            </a:r>
            <a:r>
              <a:rPr lang="ru-RU" dirty="0" err="1"/>
              <a:t>Wireframes</a:t>
            </a:r>
            <a:r>
              <a:rPr lang="ru-RU" dirty="0"/>
              <a:t>) для трёх ключевых экранов: </a:t>
            </a:r>
            <a:r>
              <a:rPr lang="ru-RU" dirty="0" err="1"/>
              <a:t>дашборд</a:t>
            </a:r>
            <a:r>
              <a:rPr lang="ru-RU" dirty="0"/>
              <a:t> новичка, страница </a:t>
            </a:r>
            <a:r>
              <a:rPr lang="ru-RU" dirty="0" err="1"/>
              <a:t>чек-листа</a:t>
            </a:r>
            <a:r>
              <a:rPr lang="ru-RU" dirty="0"/>
              <a:t>, форма запроса оборудования.</a:t>
            </a:r>
          </a:p>
          <a:p>
            <a:r>
              <a:rPr lang="ru-RU" dirty="0"/>
              <a:t>Спроектирована </a:t>
            </a:r>
            <a:r>
              <a:rPr lang="ru-RU" b="1" dirty="0"/>
              <a:t>архитектура взаимодействия</a:t>
            </a:r>
            <a:r>
              <a:rPr lang="ru-RU" dirty="0"/>
              <a:t> (UML </a:t>
            </a:r>
            <a:r>
              <a:rPr lang="ru-RU" dirty="0" err="1"/>
              <a:t>Sequence</a:t>
            </a:r>
            <a:r>
              <a:rPr lang="ru-RU" dirty="0"/>
              <a:t> </a:t>
            </a:r>
            <a:r>
              <a:rPr lang="ru-RU" dirty="0" err="1"/>
              <a:t>Diagram</a:t>
            </a:r>
            <a:r>
              <a:rPr lang="ru-RU" dirty="0"/>
              <a:t>) для основного сценария – отметка задачи выполненной.</a:t>
            </a:r>
          </a:p>
          <a:p>
            <a:r>
              <a:rPr lang="ru-RU" dirty="0"/>
              <a:t>Описаны </a:t>
            </a:r>
            <a:r>
              <a:rPr lang="ru-RU" b="1" dirty="0"/>
              <a:t>6 API-методов</a:t>
            </a:r>
            <a:r>
              <a:rPr lang="ru-RU" dirty="0"/>
              <a:t> с указанием URL, параметров, ответов и ошибок – готовый контракт для разработчиков.</a:t>
            </a:r>
          </a:p>
          <a:p>
            <a:r>
              <a:rPr lang="ru-RU" dirty="0"/>
              <a:t>Создана </a:t>
            </a:r>
            <a:r>
              <a:rPr lang="ru-RU" b="1" dirty="0"/>
              <a:t>реляционная база данных</a:t>
            </a:r>
            <a:r>
              <a:rPr lang="ru-RU" dirty="0"/>
              <a:t> (ER-диаграмма) с 7 таблицами, связями и типовыми SQL-запросами для отчётов.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внимание!</a:t>
            </a:r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фициальная">
  <a:themeElements>
    <a:clrScheme name="Официальная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Официальная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Официальная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25</TotalTime>
  <Words>244</Words>
  <Application>Microsoft Office PowerPoint</Application>
  <PresentationFormat>Экран (4:3)</PresentationFormat>
  <Paragraphs>56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Официальная</vt:lpstr>
      <vt:lpstr>Проектирование веб-приложения “Портал адаптации и онбординга новых сотрудников</vt:lpstr>
      <vt:lpstr>Акторы и их задачи</vt:lpstr>
      <vt:lpstr>Функциональные требования</vt:lpstr>
      <vt:lpstr>ER-диаграмма</vt:lpstr>
      <vt:lpstr>Основные API-методы</vt:lpstr>
      <vt:lpstr>Эскизы</vt:lpstr>
      <vt:lpstr>Итоги</vt:lpstr>
      <vt:lpstr>Спасибо за внимание!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веб-приложения “Портал адаптации и онбординга новых сотрудников</dc:title>
  <dc:creator>Denis</dc:creator>
  <cp:lastModifiedBy>Denis</cp:lastModifiedBy>
  <cp:revision>1</cp:revision>
  <dcterms:created xsi:type="dcterms:W3CDTF">2026-07-16T21:02:08Z</dcterms:created>
  <dcterms:modified xsi:type="dcterms:W3CDTF">2026-07-16T21:28:00Z</dcterms:modified>
</cp:coreProperties>
</file>